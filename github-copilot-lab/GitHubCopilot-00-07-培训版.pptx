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77724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进阶实战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49808" y="15361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Agent、Skills、CLI 与 MCP 培训版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8096" y="205740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6E4D8"/>
          </a:solidFill>
          <a:ln w="12700">
            <a:solidFill>
              <a:srgbClr val="F6E4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57984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00-07 中文 Lab 重组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269748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1：建立 GitHub Copilot 从对话助手到智能体平台的完整认知。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2：理解 Plan / Agent、Skills、自定义 Agent、CLI Session 与 MCP 的关系。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3：通过旅游网站案例，把能力链路串成可复用的工作流。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01584" y="1170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能力分层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19872" y="1645920"/>
            <a:ext cx="296265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773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2011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/ Agent / PRD / 实现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19872" y="2880360"/>
            <a:ext cx="2962656" cy="786384"/>
          </a:xfrm>
          <a:prstGeom prst="roundRect">
            <a:avLst>
              <a:gd name="adj" fmla="val 5814"/>
            </a:avLst>
          </a:prstGeom>
          <a:solidFill>
            <a:srgbClr val="DDEFEA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3008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246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/ 自定义 Skill / Custom Agent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19872" y="4114800"/>
            <a:ext cx="296265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42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02752" y="44805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Session / Copilot CLI / MCP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" y="589788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适合内部培训、Workshop 导入和能力地图展示。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为什么不只把 Copilot 当补全工具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能力演进：补全 -&gt; Agent -&gt; Skills -&gt; CLI -&gt; MCP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早期价值主要是代码补全和自然语言转代码。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 Agent 阶段后，Copilot 开始具备规划、执行和跨文件操作能力。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与 Custom Agent 让高频流程可复用，CLI 与 MCP 让能力延伸到终端和外部工具。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063240" cy="4434840"/>
          </a:xfrm>
          <a:prstGeom prst="roundRect">
            <a:avLst>
              <a:gd name="adj" fmla="val 1791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这套 00-07 Lab 的核心主线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224028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先建立工作模式认知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再扩展可复用能力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最后接入终端与外部系统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00-07 的学习路径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从基础认知到集成实践的三层结构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基础层：00-01，建立课程地图与 Plan / Agent 协作方式。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扩展层：02-04，掌握社区 Skills、自定义 Skill 和自定义 Agent。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集成层：05-07，理解 CLI Session、Copilot CLI 和 Playwright MCP。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063240" cy="4434840"/>
          </a:xfrm>
          <a:prstGeom prst="roundRect">
            <a:avLst>
              <a:gd name="adj" fmla="val 1791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贯穿案例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224028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旅游网站 PRD 规划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页面实现与检查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终端协作与 UI 自动化测试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的两种核心工作方式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与 Agent Mode 适合解决不同类型的问题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664208"/>
            <a:ext cx="504748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8470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E3ECF7"/>
          </a:solidFill>
          <a:ln w="12700">
            <a:solidFill>
              <a:srgbClr val="E3EC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019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395728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先探索代码库与需求，再给出实施计划。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适合复杂功能、跨文件改动、架构决策。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优点是方案可审核、返工率更低。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664208"/>
            <a:ext cx="504748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18470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F6E4D8"/>
          </a:solidFill>
          <a:ln w="12700">
            <a:solidFill>
              <a:srgbClr val="F6E4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9019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65392" y="2395728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直接开始创建文件、修改代码和执行任务。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适合需求清楚、路径明确的小中型任务。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优点是响应快、推进效率高。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5989320"/>
            <a:ext cx="10570464" cy="502920"/>
          </a:xfrm>
          <a:prstGeom prst="roundRect">
            <a:avLst>
              <a:gd name="adj" fmla="val 9091"/>
            </a:avLst>
          </a:prstGeom>
          <a:solidFill>
            <a:srgbClr val="F2E7C9"/>
          </a:solidFill>
          <a:ln w="12700">
            <a:solidFill>
              <a:srgbClr val="F2E7C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6126480"/>
            <a:ext cx="10131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培训重点不是二选一，而是掌握“先规划再执行”的组合方式。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从需求到实现的标准闭环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 01 文档最适合做成 PPT 的主流程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8249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465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173736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描述需求：旅游网站、页面目标、技术栈、设计偏好。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" y="242316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45973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2374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1872" y="251460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生成 PRD 结构与关键章节。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320040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23697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0098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32918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人工审核并调整方案，确认后进入执行。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" y="397764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01421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7822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61872" y="406908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 生成 PRD 文档并据此实现代码。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43484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" y="475488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79145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554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61872" y="484632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在浏览器中打开页面并继续修复问题。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1682496"/>
            <a:ext cx="3154680" cy="2377440"/>
          </a:xfrm>
          <a:prstGeom prst="roundRect">
            <a:avLst>
              <a:gd name="adj" fmla="val 2308"/>
            </a:avLst>
          </a:prstGeom>
          <a:solidFill>
            <a:srgbClr val="DDEFEA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适合强调的价值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85632" y="22677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不只是“写代码”，而是参与完整的软件工作流。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是什么，为什么重要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可复用、可共享、可自动触发的能力包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可以封装说明、脚本、资源和领域规则。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会根据任务描述自动加载合适的 Skill。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它让“提示词工程”演进为“可管理的能力模块”。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063240" cy="4434840"/>
          </a:xfrm>
          <a:prstGeom prst="roundRect">
            <a:avLst>
              <a:gd name="adj" fmla="val 1791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培训时要讲清的三个点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224028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放在哪里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何时触发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如何复用到团队项目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 Skill 的使用方式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文档适合用目录与触发机制做说明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664208"/>
            <a:ext cx="504748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8470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E3ECF7"/>
          </a:solidFill>
          <a:ln w="12700">
            <a:solidFill>
              <a:srgbClr val="E3EC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019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个人目录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395728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~/.copilot/skills/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只影响当前用户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适合个人偏好和实验技能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664208"/>
            <a:ext cx="504748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18470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F6E4D8"/>
          </a:solidFill>
          <a:ln w="12700">
            <a:solidFill>
              <a:srgbClr val="F6E4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9019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65392" y="2395728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.github/skills/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可随仓库共享给团队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适合项目级规范和流程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5989320"/>
            <a:ext cx="10570464" cy="502920"/>
          </a:xfrm>
          <a:prstGeom prst="roundRect">
            <a:avLst>
              <a:gd name="adj" fmla="val 9091"/>
            </a:avLst>
          </a:prstGeom>
          <a:solidFill>
            <a:srgbClr val="F2E7C9"/>
          </a:solidFill>
          <a:ln w="12700">
            <a:solidFill>
              <a:srgbClr val="F2E7C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6126480"/>
            <a:ext cx="10131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字段决定技能的触发语义，是设计质量的核心。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如何创建自己的 Skill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文档的重点是工作流，而不是长规则清单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8249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465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173736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/create-skill 发起技能创建。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" y="242316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45973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2374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1872" y="251460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明确名称、用途、触发场景和输出格式。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320040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23697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0098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32918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SKILL.md 与目录结构。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" y="397764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01421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7822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61872" y="406908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把规则写成可执行、可复用、可自动触发的说明。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43484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" y="475488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79145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554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61872" y="484632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在真实项目中验证并迭代。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1682496"/>
            <a:ext cx="3154680" cy="2377440"/>
          </a:xfrm>
          <a:prstGeom prst="roundRect">
            <a:avLst>
              <a:gd name="adj" fmla="val 2308"/>
            </a:avLst>
          </a:prstGeom>
          <a:solidFill>
            <a:srgbClr val="DDEFEA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建议重点展示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85632" y="22677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 1 个高质量 description 示例，比罗列 40 条规则更有教学价值。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Skill 案例：前端检查助手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把经验沉淀成结构化检查能力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检查维度可以归纳为语义化、可访问性、CSS 规范、性能与响应式。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输出不应只是“好/不好”，而应包含定位、问题和改进建议。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这类 Skill 适合团队复用，能把评审标准前置到开发阶段。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063240" cy="4434840"/>
          </a:xfrm>
          <a:prstGeom prst="roundRect">
            <a:avLst>
              <a:gd name="adj" fmla="val 1791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适合呈现的形式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224028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五维度卡片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示例检查结果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触发语句示例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Agent 的价值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 = 指令 + 工具 + 约束 + 目标输出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Agent 适合把高频任务固化成一个专门模式。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相比临时提示词，它更稳定，也更适合共享。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文档的 TestGenerator 案例说明：测试生成也可以被模式化。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063240" cy="4434840"/>
          </a:xfrm>
          <a:prstGeom prst="roundRect">
            <a:avLst>
              <a:gd name="adj" fmla="val 1791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讲这一页时建议强调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224028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角色定义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工具白名单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输出格式约束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CLI Session：为什么要后台执行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文档的重点是任务隔离与会话交接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664208"/>
            <a:ext cx="504748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8470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E3ECF7"/>
          </a:solidFill>
          <a:ln w="12700">
            <a:solidFill>
              <a:srgbClr val="E3EC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019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模式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395728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直接在当前工作区执行。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适合临时任务和快速验证。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修改离当前环境最近，但风险也更直接。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664208"/>
            <a:ext cx="504748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18470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F6E4D8"/>
          </a:solidFill>
          <a:ln w="12700">
            <a:solidFill>
              <a:srgbClr val="F6E4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9019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模式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65392" y="2395728"/>
            <a:ext cx="4434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在独立工作树中执行。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适合耗时任务和较大范围变更。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能更好保护主工作区和当前分支。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5989320"/>
            <a:ext cx="10570464" cy="502920"/>
          </a:xfrm>
          <a:prstGeom prst="roundRect">
            <a:avLst>
              <a:gd name="adj" fmla="val 9091"/>
            </a:avLst>
          </a:prstGeom>
          <a:solidFill>
            <a:srgbClr val="F2E7C9"/>
          </a:solidFill>
          <a:ln w="12700">
            <a:solidFill>
              <a:srgbClr val="F2E7C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6126480"/>
            <a:ext cx="10131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培训时可以把它解释为“Copilot 的安全执行沙箱选择”。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Session 的典型流程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把前台对话交接给后台执行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8249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465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173736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Chat 中明确任务目标。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" y="242316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45973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2374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1872" y="251460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 Session Target 为 Copilot CLI。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320040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23697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0098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32918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决定使用 Workspace 还是 Worktree。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" y="397764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01421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7822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61872" y="406908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让任务在后台运行，并在状态区观察进展。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43484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" y="475488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79145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554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61872" y="484632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需要时回到结果、日志和修改内容继续处理。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1682496"/>
            <a:ext cx="3154680" cy="2377440"/>
          </a:xfrm>
          <a:prstGeom prst="roundRect">
            <a:avLst>
              <a:gd name="adj" fmla="val 2308"/>
            </a:avLst>
          </a:prstGeom>
          <a:solidFill>
            <a:srgbClr val="DDEFEA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最适合的任务类型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85632" y="22677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范围清晰、执行时间长、需要持续运行但不需要频繁人工介入的任务。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CLI：把自然语言带到终端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文档偏基础，但对终端用户很重要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核心价值是把命令生成、审查和解释带入 CLI 工作流。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适合喜欢终端、脚本化或远程开发环境的用户。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演示时建议只讲安装、启动、查看命令和 review 文件四个动作。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063240" cy="4434840"/>
          </a:xfrm>
          <a:prstGeom prst="roundRect">
            <a:avLst>
              <a:gd name="adj" fmla="val 1791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适合现场演示的指令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224028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/help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@file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自然语言生成命令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是什么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文档负责把 Copilot 扩展到外部工具世界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是标准化的上下文与工具接入协议。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它让 Copilot 能按需获取外部系统能力，而不是仅靠静态提示。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教学重点应放在“为什么有价值”，而不是先讲配置细节。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063240" cy="4434840"/>
          </a:xfrm>
          <a:prstGeom prst="roundRect">
            <a:avLst>
              <a:gd name="adj" fmla="val 1791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最适合强调的价值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224028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低侵入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按需取用上下文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MCP 实战场景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 07 文档最适合做展示的案例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4592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8249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465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173736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VS Code 中安装或配置 Playwright MCP。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" y="242316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45973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2374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1872" y="251460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Agent 在实现页面后自动执行 UI 测试。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320040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23697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0098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61872" y="32918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需要时基于页面交互生成测试脚本。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" y="397764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01421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7822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61872" y="406908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把测试结果回传给 Agent，形成修复闭环。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4434840"/>
            <a:ext cx="0" cy="310896"/>
          </a:xfrm>
          <a:prstGeom prst="line">
            <a:avLst/>
          </a:prstGeom>
          <a:noFill/>
          <a:ln w="13970">
            <a:solidFill>
              <a:srgbClr val="2E777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" y="4754880"/>
            <a:ext cx="6629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79145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2E7773"/>
          </a:solidFill>
          <a:ln w="12700">
            <a:solidFill>
              <a:srgbClr val="2E777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554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61872" y="484632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最终得到可复用的测试文件与验证结果。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1682496"/>
            <a:ext cx="3154680" cy="2377440"/>
          </a:xfrm>
          <a:prstGeom prst="roundRect">
            <a:avLst>
              <a:gd name="adj" fmla="val 2308"/>
            </a:avLst>
          </a:prstGeom>
          <a:solidFill>
            <a:srgbClr val="DDEFEA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建议素材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85632" y="22677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1 段简化的 mcp.json 配置 + 1 张测试截图 + 1 个流程箭头图即可。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如何把 00-07 讲成一套完整方法论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不是功能堆砌，而是三层能力模型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269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17627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第一层：会用 Agent，掌握规划与执行。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第二层：会沉淀能力，用 Skills 和 Custom Agent 复用经验。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第三层：会集成外部世界，用 CLI 和 MCP 打通终端与工具链。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600200"/>
            <a:ext cx="3063240" cy="4434840"/>
          </a:xfrm>
          <a:prstGeom prst="roundRect">
            <a:avLst>
              <a:gd name="adj" fmla="val 1791"/>
            </a:avLst>
          </a:prstGeom>
          <a:solidFill>
            <a:srgbClr val="FFF9F2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适合团队落地的顺序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0" y="2240280"/>
            <a:ext cx="2468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先统一工作方式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再沉淀规范与模式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最后按需接入外部工具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75B2E"/>
          </a:solidFill>
          <a:ln w="12700">
            <a:solidFill>
              <a:srgbClr val="C75B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总结与行动建议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932688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Copilot 从“辅助写代码”升级为“团队生产力系统”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225296"/>
            <a:ext cx="10808208" cy="0"/>
          </a:xfrm>
          <a:prstGeom prst="line">
            <a:avLst/>
          </a:prstGeom>
          <a:noFill/>
          <a:ln w="15240">
            <a:solidFill>
              <a:srgbClr val="D7CA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45920"/>
            <a:ext cx="67665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011680"/>
            <a:ext cx="6172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先从 01 开始，建立 Plan / Agent 的协作习惯。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再通过 02-04 把经验沉淀成 Skill 和 Agent。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最后结合 05-07，把终端与外部工具纳入统一工作流。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65008" y="1645920"/>
            <a:ext cx="3364992" cy="2606040"/>
          </a:xfrm>
          <a:prstGeom prst="roundRect">
            <a:avLst>
              <a:gd name="adj" fmla="val 2807"/>
            </a:avLst>
          </a:prstGeom>
          <a:solidFill>
            <a:srgbClr val="F2E7C9"/>
          </a:solidFill>
          <a:ln w="12700">
            <a:solidFill>
              <a:srgbClr val="D7CA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2752" y="1874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建议落地顺序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47888" y="2240280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先统一 Agent 用法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再沉淀 Skill 和 Agent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最后按需接入 CLI 与 MCP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5989320"/>
            <a:ext cx="10588752" cy="457200"/>
          </a:xfrm>
          <a:prstGeom prst="roundRect">
            <a:avLst>
              <a:gd name="adj" fmla="val 10000"/>
            </a:avLst>
          </a:prstGeom>
          <a:solidFill>
            <a:srgbClr val="F6E4D8"/>
          </a:solidFill>
          <a:ln w="12700">
            <a:solidFill>
              <a:srgbClr val="F6E4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6108192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3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建议下一步：基于这套 deck 再补 3-5 页现场演示截图，可直接用于正式培训。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GitHub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进阶实战：Agent、Skills、CLI 与 MCP</dc:title>
  <dc:subject>GitHub Copilot Lab 00-07 training deck</dc:subject>
  <dc:creator>GitHub Copilot</dc:creator>
  <cp:lastModifiedBy>GitHub Copilot</cp:lastModifiedBy>
  <cp:revision>1</cp:revision>
  <dcterms:created xsi:type="dcterms:W3CDTF">2026-03-10T16:52:01Z</dcterms:created>
  <dcterms:modified xsi:type="dcterms:W3CDTF">2026-03-10T16:52:01Z</dcterms:modified>
</cp:coreProperties>
</file>